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861" y="2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F0752-341B-4966-8BEE-CCC3BA59C29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0CC0F-D2C5-48B2-B6B7-57799969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5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2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5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10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00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566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433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7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004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445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7672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15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9651803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6517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5769468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786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981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776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004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667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93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37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60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936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6505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100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0706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45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56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65430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MAS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instinct-lockup-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00800"/>
            <a:ext cx="1371600" cy="292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39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DIVIDER_MASTER"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1D1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00C2DE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831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743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dTLB Pressure and THP:</a:t>
            </a:r>
          </a:p>
          <a:p>
            <a:r>
              <a:t>A Hardware PMC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AMD EPYC 9R45 (Turin / Zen5c) · perf stat -a · OpenJDK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TLB Architecture 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Why page size matters for dTLB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C2DE"/>
                </a:solidFill>
              </a:defRPr>
            </a:pPr>
            <a:r>
              <a:t>SECTION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The TLB reach problem at 4 KB vs 2 MB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L1 dTLB — </a:t>
            </a:r>
            <a:r>
              <a:rPr sz="1500">
                <a:solidFill>
                  <a:srgbClr val="CCCCCC"/>
                </a:solidFill>
              </a:rPr>
              <a:t>64 entries × 4 KB = 256 KB reach. An 8 GiB working set means every access is a guaranteed L1 miss.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L2 dTLB — </a:t>
            </a:r>
            <a:r>
              <a:rPr sz="1500">
                <a:solidFill>
                  <a:srgbClr val="CCCCCC"/>
                </a:solidFill>
              </a:rPr>
              <a:t>2048 entries × 4 KB = 8 MB reach. Still 1000× smaller than the working set. Every access walks.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With 2 MB pages — </a:t>
            </a:r>
            <a:r>
              <a:rPr sz="1500">
                <a:solidFill>
                  <a:srgbClr val="CCCCCC"/>
                </a:solidFill>
              </a:rPr>
              <a:t>64 entries × 2 MB = 128 MB L1 reach. 2048 entries × 2 MB = 4 GB L2 reach. Covers the entire working set.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Page-table walk cost — </a:t>
            </a:r>
            <a:r>
              <a:rPr sz="1500">
                <a:solidFill>
                  <a:srgbClr val="CCCCCC"/>
                </a:solidFill>
              </a:rPr>
              <a:t>4–20 cycles per walk on Zen (L2 hit). At 5.9M walks/s that is 100M–1.18B wasted cycles per second.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AMD PMC event — </a:t>
            </a:r>
            <a:r>
              <a:rPr sz="1500">
                <a:solidFill>
                  <a:srgbClr val="CCCCCC"/>
                </a:solidFill>
              </a:rPr>
              <a:t>ls_l1_d_tlb_miss.all_l2_miss (raw 0x43F045): fires when both L1 and L2 dTLB miss, triggering the hardware page-table walker.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BACKGROUND · DTLB ARCHITECTURE ON AMD ZEN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Benchmark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Sattolo pointer-chase — maximally TLB-stressing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C2DE"/>
                </a:solidFill>
              </a:defRPr>
            </a:pPr>
            <a:r>
              <a:t>SECTION 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Pointer-chasing: the canonical TLB stress workload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none"/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// Sattolo shuffle — creates single cycle of length 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void sattolo_shuffle(uint64_t *a, size_t n)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  for (size_t i = n-1; i &gt; 0; i--)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      size_t j = rand() % i;   // j &lt; i, guarantees single cycle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      uint64_t t = a[i]; a[i] = a[j]; a[j] = 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// Timed section — dependent load chain, prefetcher is blind: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uint64_t idx = 0;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for (long i = 0; i &lt; STEPS; i++)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  idx = arr[idx];   // next address = current value → serial dependency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// Java LatBench: allocates + traverses 8 GiB object graph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// -XX:+AlwaysPreTouch faults all pages at startup (eliminates cold noise)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// -Xmx12g  ·  Reports: ns per object access (lower = better)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WORKLOAD DESIGN · C MICROBENCHMARK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Both workloads: same binary, same instance, THP mode toggled via sysfs between A and B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Measurement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Live PMC captures · AMD EPYC 9R45 · perf stat 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C2DE"/>
                </a:solidFill>
              </a:defRPr>
            </a:pPr>
            <a:r>
              <a:t>SECTION 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C pointer-chase: PMC delta under THP=never vs always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C MICROBENCH RESULTS · 8 GiB · 40M STEPS · perf stat -a EVERY 1s</a:t>
            </a:r>
          </a:p>
        </p:txBody>
      </p:sp>
      <p:pic>
        <p:nvPicPr>
          <p:cNvPr id="4" name="Picture 3" descr="c_n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5394960" cy="3474720"/>
          </a:xfrm>
          <a:prstGeom prst="rect">
            <a:avLst/>
          </a:prstGeom>
        </p:spPr>
      </p:pic>
      <p:pic>
        <p:nvPicPr>
          <p:cNvPr id="5" name="Picture 4" descr="c_al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394960" cy="34747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4846320"/>
          <a:ext cx="9692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THP=never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THP=always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ns / access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172.48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144.06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+16.5% faster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page-table walks/s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5,900,000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55,000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107× reduction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dTLB-load-misses/s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4,700,000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55,000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85× reduction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AnonHugePages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10 MB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8,192 MB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512× more huge pages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JVM pointer-chase: PMC delta under THP=never vs always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JAVA LATBENCH RESULTS · 8 GiB HEAP · -Xmx12g · -XX:+AlwaysPreTouch</a:t>
            </a:r>
          </a:p>
        </p:txBody>
      </p:sp>
      <p:pic>
        <p:nvPicPr>
          <p:cNvPr id="4" name="Picture 3" descr="j_n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5394960" cy="3474720"/>
          </a:xfrm>
          <a:prstGeom prst="rect">
            <a:avLst/>
          </a:prstGeom>
        </p:spPr>
      </p:pic>
      <p:pic>
        <p:nvPicPr>
          <p:cNvPr id="5" name="Picture 4" descr="j_al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394960" cy="34747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4846320"/>
          <a:ext cx="9692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THP=never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THP=always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ns / access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162.13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142.66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+12.0% faster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page-table walks/s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1,470,000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44,000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33× reduction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dTLB-load-misses/s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1,470,000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44,000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33× reduction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AnonHugePages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26 MB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12,288 MB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473× more huge pages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Reproducing This Measurement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Public repo · runs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C2DE"/>
                </a:solidFill>
              </a:defRPr>
            </a:pPr>
            <a:r>
              <a:t>SECTION 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Automated A/B capture — cap.sh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none"/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cap.sh LANG MODE GIB STEPS HEAP CASEID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$MODE &gt; /sys/kernel/mm/transparent_hugepage/enabled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$MODE &gt; /sys/kernel/mm/transparent_hugepage/defrag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3    &gt; /proc/sys/vm/drop_caches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Launch workload in background, sample PMC every 1s: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EV='instructions,ls_l1_d_tlb_miss.all_l2_miss,dTLB-loads,dTLB-load-misses'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while kill -0 $WPID 2&gt;/dev/null; do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perf stat -a -x, -e "$EV" -- sleep 1 2&gt;p.csv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anon=$(awk '/AnonHugePages/{print $2}' /proc/meminfo)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walks=$(awk -F, '/all_l2_miss/{print $1}' p.csv)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echo "$el,$MODE,$anon,$walks" &gt;&gt; pmc.csv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METHODOLOGY · CAPTURE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git clone https://github.com/deepindeepsea/transparent-hugepages-demo &amp;&amp; cd transparent-hugepages-demo</a:t>
            </a:r>
          </a:p>
          <a:p>
            <a:r>
              <a:rPr sz="1100">
                <a:solidFill>
                  <a:srgbClr val="CCCCCC"/>
                </a:solidFill>
              </a:rPr>
              <a:t>bash setup.sh    # installs deps, compiles microbench</a:t>
            </a:r>
          </a:p>
          <a:p>
            <a:r>
              <a:rPr sz="1100">
                <a:solidFill>
                  <a:srgbClr val="CCCCCC"/>
                </a:solidFill>
              </a:rPr>
              <a:t>bash scripts/run_microbench.sh   # runs all 4 A/B cases, outputs pmc.csv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D17A283-CFD4-47B2-83B0-8D1B660F6BAF}" vid="{45BE4ECC-450B-4D86-BCAB-67DA095179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8e8dea-a4f3-4850-b16a-fd6d2b1302b4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2261</Words>
  <Application>Microsoft Office PowerPoint</Application>
  <PresentationFormat>Widescreen</PresentationFormat>
  <Paragraphs>422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Consolas</vt:lpstr>
      <vt:lpstr>Klavika</vt:lpstr>
      <vt:lpstr>Klavika Condensed</vt:lpstr>
      <vt:lpstr>Klavika Medium</vt:lpstr>
      <vt:lpstr>Klavika Regular</vt:lpstr>
      <vt:lpstr>Segoe UI</vt:lpstr>
      <vt:lpstr>Wingdings</vt:lpstr>
      <vt:lpstr>AMD Corporate Template_Dark</vt:lpstr>
      <vt:lpstr>PowerPoint Presentation</vt:lpstr>
      <vt:lpstr>MI355X VS B200 — SINGLE NODE (8 GPUS)</vt:lpstr>
      <vt:lpstr>GENERATIONAL LEAP: MI325X → MI355X</vt:lpstr>
      <vt:lpstr>MULTI-NODE SCALE</vt:lpstr>
      <vt:lpstr>BROADEST PARTNER ECOSYSTEM EVER</vt:lpstr>
      <vt:lpstr>Line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Corporate Presentation Color Palette</vt:lpstr>
      <vt:lpstr>AMD Instinct Measured Performance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Roy, Michael</cp:lastModifiedBy>
  <cp:revision>3</cp:revision>
  <dcterms:created xsi:type="dcterms:W3CDTF">2013-01-27T09:14:16Z</dcterms:created>
  <dcterms:modified xsi:type="dcterms:W3CDTF">2026-05-06T22:23:04Z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AMD General</vt:lpwstr>
  </property>
</Properties>
</file>
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45" d="100"/>
          <a:sy n="145" d="100"/>
        </p:scale>
        <p:origin x="861" y="29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CF0752-341B-4966-8BEE-CCC3BA59C29B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00CC0F-D2C5-48B2-B6B7-577999697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84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350259" y="1621536"/>
            <a:ext cx="6244333" cy="1941576"/>
          </a:xfrm>
          <a:noFill/>
        </p:spPr>
        <p:txBody>
          <a:bodyPr wrap="square" lIns="0" tIns="0" rIns="0" bIns="0" anchor="ctr" anchorCtr="0">
            <a:no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50260" y="3875650"/>
            <a:ext cx="6244332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b="1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2D4C3E2-3CE7-EA80-DFF0-91F7D4F06C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86888" y="5771788"/>
            <a:ext cx="2359024" cy="67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258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487336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623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:a14="http://schemas.microsoft.com/office/drawing/2010/main" xmlns:p15="http://schemas.microsoft.com/office/powerpoint/2012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ckup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250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8791EE2C-CA72-508C-AF77-F7276C5243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4102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" name="Picture 1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BC9AEE1B-6CBF-531F-6161-7FC03EC4E8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1008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1110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1110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6B71AB6C-BEED-906C-7BD1-810E3700BC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4566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>
          <p15:clr>
            <a:srgbClr val="5ACBF0"/>
          </p15:clr>
        </p15:guide>
        <p15:guide id="4" pos="3659">
          <p15:clr>
            <a:srgbClr val="5ACBF0"/>
          </p15:clr>
        </p15:guide>
        <p15:guide id="5" pos="402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" name="Picture 1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DE9FE114-78A5-00B6-2209-5248EF59E6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6433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>
          <p15:clr>
            <a:srgbClr val="5ACBF0"/>
          </p15:clr>
        </p15:guide>
        <p15:guide id="4" pos="3659">
          <p15:clr>
            <a:srgbClr val="5ACBF0"/>
          </p15:clr>
        </p15:guide>
        <p15:guide id="5" pos="402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AFD824D3-B0BF-F030-6A67-C1DF579938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8877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3182778"/>
            <a:ext cx="11018520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91004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8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1992">
          <p15:clr>
            <a:srgbClr val="5ACBF0"/>
          </p15:clr>
        </p15:guide>
        <p15:guide id="29" orient="horz" pos="2328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19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1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19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1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19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1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19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1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19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1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pic>
        <p:nvPicPr>
          <p:cNvPr id="25" name="Picture 24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B598498A-FA22-D4DA-FA61-484A6A7EB0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7054451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0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476729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0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1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88" y="1043675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2" name="Picture 1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072A27EA-9A25-03D6-F6CD-53BB65C423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1157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6" orient="horz" pos="648">
          <p15:clr>
            <a:srgbClr val="5ACBF0"/>
          </p15:clr>
        </p15:guide>
        <p15:guide id="8" orient="horz" pos="3648">
          <p15:clr>
            <a:srgbClr val="5ACBF0"/>
          </p15:clr>
        </p15:guide>
        <p15:guide id="10" pos="3720">
          <p15:clr>
            <a:srgbClr val="C35EA4"/>
          </p15:clr>
        </p15:guide>
        <p15:guide id="11" pos="2993">
          <p15:clr>
            <a:srgbClr val="5ACBF0"/>
          </p15:clr>
        </p15:guide>
        <p15:guide id="12" pos="3552">
          <p15:clr>
            <a:srgbClr val="A4A3A4"/>
          </p15:clr>
        </p15:guide>
        <p15:guide id="14" orient="horz" pos="1440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9651803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Horizontal Photo, Lockup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381" y="5157216"/>
            <a:ext cx="7785402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7D67B8-90AB-642F-D3C2-79B0D7999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217" y="5449153"/>
            <a:ext cx="2176078" cy="51861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51B2658-BBE5-FF50-3A49-A12C7B1EA044}"/>
              </a:ext>
            </a:extLst>
          </p:cNvPr>
          <p:cNvCxnSpPr/>
          <p:nvPr userDrawn="1"/>
        </p:nvCxnSpPr>
        <p:spPr>
          <a:xfrm>
            <a:off x="3418764" y="5137316"/>
            <a:ext cx="0" cy="1160060"/>
          </a:xfrm>
          <a:prstGeom prst="line">
            <a:avLst/>
          </a:prstGeom>
          <a:ln w="635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665179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57694680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5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639FD31F-D9C5-7581-C456-D6B4203F1B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7786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1139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EA5C0E5E-8E02-C45B-9DC3-C30B8953CC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29813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139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1" y="2029778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0" y="2617284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618E84E-C602-EEFD-DA07-5A1A142489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2776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842">
          <p15:clr>
            <a:srgbClr val="5ACBF0"/>
          </p15:clr>
        </p15:guide>
        <p15:guide id="11" orient="horz" pos="1275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7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7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5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7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5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1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39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1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39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6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6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18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1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1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5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1DCF18E0-53B0-CA09-B057-06DC49AD57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10049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822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C112B4FC-613C-9CF8-41B7-970931817B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36670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139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5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7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3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4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2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100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4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0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1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7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1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5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6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4" y="3895725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6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2" y="4126196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3" y="4824844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67728E6-D31B-A5A2-A1BB-1AFEEB2F11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7937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071">
          <p15:clr>
            <a:srgbClr val="5ACBF0"/>
          </p15:clr>
        </p15:guide>
        <p15:guide id="11" orient="horz" pos="2455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8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8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pic>
        <p:nvPicPr>
          <p:cNvPr id="2" name="Picture 1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248D9AB6-52A1-91EE-AE98-B0B0BE05A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53731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7">
          <p15:clr>
            <a:srgbClr val="5ACBF0"/>
          </p15:clr>
        </p15:guide>
        <p15:guide id="21" pos="5112">
          <p15:clr>
            <a:srgbClr val="5ACBF0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4" y="2131028"/>
            <a:ext cx="6961188" cy="3980641"/>
          </a:xfrm>
        </p:spPr>
        <p:txBody>
          <a:bodyPr>
            <a:normAutofit/>
          </a:bodyPr>
          <a:lstStyle>
            <a:lvl1pPr marL="320040" indent="-320040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3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0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80DE4C6A-1A4B-2F91-08F9-26625C8F14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560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3" pos="2928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7"/>
            <a:ext cx="3182027" cy="5683249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099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33B76501-139F-DE3A-D0A0-CBCAD55D13E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39369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3104745"/>
            <a:ext cx="71803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680069"/>
            <a:ext cx="71803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D3A967-0FBB-34B4-4FB2-6A371308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9010" y="3177856"/>
            <a:ext cx="2727281" cy="64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20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>
          <p15:clr>
            <a:srgbClr val="5ACBF0"/>
          </p15:clr>
        </p15:guide>
        <p15:guide id="4" orient="horz" pos="2364">
          <p15:clr>
            <a:srgbClr val="5ACBF0"/>
          </p15:clr>
        </p15:guide>
        <p15:guide id="5" pos="3840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290955" y="3104745"/>
            <a:ext cx="6181081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Divider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290955" y="3680069"/>
            <a:ext cx="6181081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1365051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>
          <p15:clr>
            <a:srgbClr val="5ACBF0"/>
          </p15:clr>
        </p15:guide>
        <p15:guide id="4" orient="horz" pos="2364">
          <p15:clr>
            <a:srgbClr val="5ACBF0"/>
          </p15:clr>
        </p15:guide>
        <p15:guide id="5" pos="3840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D31CD76-3727-5C5A-936C-21E39A69C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79" y="3200400"/>
            <a:ext cx="10997217" cy="1933360"/>
          </a:xfrm>
        </p:spPr>
        <p:txBody>
          <a:bodyPr anchor="b">
            <a:noAutofit/>
          </a:bodyPr>
          <a:lstStyle>
            <a:lvl1pPr>
              <a:defRPr sz="4000" spc="-20" baseline="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67B108C-113D-497F-670A-DDAF72E89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3380" y="5230505"/>
            <a:ext cx="10997217" cy="123171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32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2000"/>
            </a:lvl2pPr>
            <a:lvl3pPr marL="0" indent="0">
              <a:spcBef>
                <a:spcPts val="0"/>
              </a:spcBef>
              <a:buFontTx/>
              <a:buNone/>
              <a:defRPr sz="2000"/>
            </a:lvl3pPr>
            <a:lvl4pPr marL="0" indent="0">
              <a:spcBef>
                <a:spcPts val="0"/>
              </a:spcBef>
              <a:buFontTx/>
              <a:buNone/>
              <a:defRPr sz="2000"/>
            </a:lvl4pPr>
            <a:lvl5pPr marL="0" indent="0">
              <a:spcBef>
                <a:spcPts val="0"/>
              </a:spcBef>
              <a:buFontTx/>
              <a:buNone/>
              <a:defRPr sz="2000"/>
            </a:lvl5pPr>
            <a:lvl6pPr marL="0" indent="0">
              <a:spcBef>
                <a:spcPts val="0"/>
              </a:spcBef>
              <a:buFontTx/>
              <a:buNone/>
              <a:defRPr sz="2000"/>
            </a:lvl6pPr>
            <a:lvl7pPr marL="0" indent="0">
              <a:spcBef>
                <a:spcPts val="0"/>
              </a:spcBef>
              <a:buFontTx/>
              <a:buNone/>
              <a:defRPr sz="2000"/>
            </a:lvl7pPr>
            <a:lvl8pPr marL="0" indent="0">
              <a:spcBef>
                <a:spcPts val="0"/>
              </a:spcBef>
              <a:buFontTx/>
              <a:buNone/>
              <a:defRPr sz="2000"/>
            </a:lvl8pPr>
            <a:lvl9pPr marL="0" indent="0">
              <a:spcBef>
                <a:spcPts val="0"/>
              </a:spcBef>
              <a:buFontTx/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7A3218-9FBC-D7FF-A0AC-D9847C153B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199" y="789515"/>
            <a:ext cx="2302302" cy="54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91006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10706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1436688"/>
            <a:ext cx="11018520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" name="Picture 1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0FCD3399-C787-D0BD-AB29-7D3229A5C2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2455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3" y="1436688"/>
            <a:ext cx="11020425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00" indent="0">
              <a:buNone/>
              <a:defRPr sz="1100"/>
            </a:lvl2pPr>
            <a:lvl3pPr marL="457200" indent="0">
              <a:buNone/>
              <a:defRPr sz="1100"/>
            </a:lvl3pPr>
            <a:lvl4pPr marL="661988" indent="0">
              <a:buNone/>
              <a:defRPr sz="1100"/>
            </a:lvl4pPr>
            <a:lvl5pPr marL="855663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3DBD5AE2-7C3E-E789-AE22-6A4292D287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95652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9C228-A98B-B784-A41C-3C84AE53BD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1447" y="2841633"/>
            <a:ext cx="4929105" cy="117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665430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_MAST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mes/assets/instinct-lockup-w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7352" y="6400800"/>
            <a:ext cx="1371600" cy="2926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EAEBEC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6398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_DIVIDER_MASTER">
    <p:bg>
      <p:bgPr>
        <a:solidFill>
          <a:srgbClr val="1314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94011" cy="6858000"/>
          </a:xfrm>
          <a:prstGeom prst="rect">
            <a:avLst/>
          </a:prstGeom>
          <a:solidFill>
            <a:srgbClr val="1D1F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157435" y="0"/>
            <a:ext cx="36576" cy="6858000"/>
          </a:xfrm>
          <a:prstGeom prst="rect">
            <a:avLst/>
          </a:prstGeom>
          <a:solidFill>
            <a:srgbClr val="00C2DE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7831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3" y="591790"/>
            <a:ext cx="1101852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0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19" y="6553364"/>
            <a:ext cx="114454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Arial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77438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</p:sldLayoutIdLst>
  <p:transition>
    <p:fade/>
  </p:transition>
  <p:hf hd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>
          <p15:clr>
            <a:srgbClr val="C35EA4"/>
          </p15:clr>
        </p15:guide>
        <p15:guide id="17" pos="7313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85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95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THP Enablement:</a:t>
            </a:r>
          </a:p>
          <a:p>
            <a:r>
              <a:t>AMD Field Team Playbook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defRPr sz="1400">
                <a:solidFill>
                  <a:srgbClr val="CCCCCC"/>
                </a:solidFill>
              </a:defRPr>
            </a:pPr>
            <a:r>
              <a:t>How to identify, demonstrate, and quantify THP value for production fleets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Qualifying the Opportunity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>
              <a:defRPr sz="1600">
                <a:solidFill>
                  <a:srgbClr val="CCCCCC"/>
                </a:solidFill>
              </a:defRPr>
            </a:pPr>
            <a:r>
              <a:t>Is the customer a THP candidate?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2651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00C2DE"/>
                </a:solidFill>
              </a:defRPr>
            </a:pPr>
            <a:r>
              <a:t>SECTION 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Three questions to determine THP fit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</a:rPr>
              <a:t>Q1 — </a:t>
            </a:r>
            <a:r>
              <a:rPr sz="1500">
                <a:solidFill>
                  <a:srgbClr val="CCCCCC"/>
                </a:solidFill>
              </a:rPr>
              <a:t>Working set &gt; 1 GiB per instance? — In-memory databases, JVM services, KV stores, ML inference. YES → strong candidate.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</a:rPr>
              <a:t>Q2 — </a:t>
            </a:r>
            <a:r>
              <a:rPr sz="1500">
                <a:solidFill>
                  <a:srgbClr val="CCCCCC"/>
                </a:solidFill>
              </a:rPr>
              <a:t>THP currently disabled or madvise? — cat /sys/kernel/mm/transparent_hugepage/enabled. If [never] or [madvise] is active → opportunity.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</a:rPr>
              <a:t>Q3 — </a:t>
            </a:r>
            <a:r>
              <a:rPr sz="1500">
                <a:solidFill>
                  <a:srgbClr val="CCCCCC"/>
                </a:solidFill>
              </a:rPr>
              <a:t>CPU-saturated but throughput flat? — Process CPU is high but requests/sec not scaling. Classic dTLB saturation signature.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</a:rPr>
              <a:t>Confirm with PMC — </a:t>
            </a:r>
            <a:r>
              <a:rPr sz="1500">
                <a:solidFill>
                  <a:srgbClr val="CCCCCC"/>
                </a:solidFill>
              </a:rPr>
              <a:t>sudo perf stat -a -e ls_l1_d_tlb_miss.all_l2_miss -- sleep 10. If walks/s &gt; 500K at load: THP will help.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C2DE"/>
                </a:solidFill>
              </a:defRPr>
            </a:pPr>
            <a:r>
              <a:t>QUICK QUALIFICATION CHECKLIST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Framing the problem without jargon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</a:rPr>
              <a:t>Customer says — </a:t>
            </a:r>
            <a:r>
              <a:rPr sz="1400">
                <a:solidFill>
                  <a:srgbClr val="CCCCCC"/>
                </a:solidFill>
              </a:rPr>
              <a:t>"Our JVM nodes are CPU-saturated but throughput is not growing."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</a:rPr>
              <a:t>Your response — </a:t>
            </a:r>
            <a:r>
              <a:rPr sz="1400">
                <a:solidFill>
                  <a:srgbClr val="CCCCCC"/>
                </a:solidFill>
              </a:rPr>
              <a:t>"What you are seeing is likely dTLB pressure. Think of your CPU as a librarian with a 256 KB index card tray. Your application has an 8 GiB library. Every memory access the index card does not cover forces the librarian to walk the full stacks — that is a page-table walk. We measured 1.47 million of those per second on your workload type. With 2 MB pages, the same tray covers 128 MB. Walk rate drops 33×."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</a:rPr>
              <a:t>Close — </a:t>
            </a:r>
            <a:r>
              <a:rPr sz="1400">
                <a:solidFill>
                  <a:srgbClr val="CCCCCC"/>
                </a:solidFill>
              </a:rPr>
              <a:t>"One command. No code changes. We measured 12% throughput recovery on identical hardware. Want to see the live recording?"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C2DE"/>
                </a:solidFill>
              </a:defRPr>
            </a:pPr>
            <a:r>
              <a:t>THE CUSTOMER CONVERSATION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Show the customer what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C2DE"/>
                </a:solidFill>
              </a:defRPr>
            </a:pPr>
            <a:r>
              <a:t>EVIDENCE · LIVE PMC CAPTURES · AMD EPYC 9R45</a:t>
            </a:r>
          </a:p>
        </p:txBody>
      </p:sp>
      <p:pic>
        <p:nvPicPr>
          <p:cNvPr id="4" name="Picture 3" descr="j_ne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0"/>
            <a:ext cx="5394960" cy="3383280"/>
          </a:xfrm>
          <a:prstGeom prst="rect">
            <a:avLst/>
          </a:prstGeom>
        </p:spPr>
      </p:pic>
      <p:pic>
        <p:nvPicPr>
          <p:cNvPr id="5" name="Picture 4" descr="j_alway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88720"/>
            <a:ext cx="539496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" y="46634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99999"/>
                </a:solidFill>
              </a:rPr>
              <a:t>Java · THP=NEVER  ·  162 ns/access  ·  1,470,000 walks/s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46634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DE"/>
                </a:solidFill>
              </a:rPr>
              <a:t>Java · THP=ALWAYS  ·  143 ns/access  ·  44,000 walks/s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737360"/>
            <a:ext cx="2194560" cy="1371600"/>
          </a:xfrm>
          <a:prstGeom prst="rect">
            <a:avLst/>
          </a:prstGeom>
          <a:solidFill>
            <a:srgbClr val="1D1F21"/>
          </a:solidFill>
          <a:ln w="12700">
            <a:solidFill>
              <a:srgbClr val="00C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" y="1828800"/>
            <a:ext cx="19751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C2DE"/>
                </a:solidFill>
              </a:rPr>
              <a:t>+12%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2331720"/>
            <a:ext cx="1975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JVM throughput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2697480"/>
            <a:ext cx="19751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no code changes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737360"/>
            <a:ext cx="2194560" cy="1371600"/>
          </a:xfrm>
          <a:prstGeom prst="rect">
            <a:avLst/>
          </a:prstGeom>
          <a:solidFill>
            <a:srgbClr val="1D1F21"/>
          </a:solidFill>
          <a:ln w="12700">
            <a:solidFill>
              <a:srgbClr val="00C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5768" y="1828800"/>
            <a:ext cx="19751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C2DE"/>
                </a:solidFill>
              </a:rPr>
              <a:t>33×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2331720"/>
            <a:ext cx="1975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fewer walks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2697480"/>
            <a:ext cx="19751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44K vs 1.47M/s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83480" y="1737360"/>
            <a:ext cx="2194560" cy="1371600"/>
          </a:xfrm>
          <a:prstGeom prst="rect">
            <a:avLst/>
          </a:prstGeom>
          <a:solidFill>
            <a:srgbClr val="1D1F21"/>
          </a:solidFill>
          <a:ln w="12700">
            <a:solidFill>
              <a:srgbClr val="00C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93208" y="1828800"/>
            <a:ext cx="19751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C2DE"/>
                </a:solidFill>
              </a:rPr>
              <a:t>$5.1M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3208" y="2331720"/>
            <a:ext cx="1975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AWS savings/yr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3208" y="2697480"/>
            <a:ext cx="19751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10K fleet 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60920" y="1737360"/>
            <a:ext cx="2194560" cy="1371600"/>
          </a:xfrm>
          <a:prstGeom prst="rect">
            <a:avLst/>
          </a:prstGeom>
          <a:solidFill>
            <a:srgbClr val="1D1F21"/>
          </a:solidFill>
          <a:ln w="12700">
            <a:solidFill>
              <a:srgbClr val="00C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648" y="1828800"/>
            <a:ext cx="19751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C2DE"/>
                </a:solidFill>
              </a:rPr>
              <a:t>1 cmd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648" y="2331720"/>
            <a:ext cx="1975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to enable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2697480"/>
            <a:ext cx="19751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echo always &gt; 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Quantifying the savings conversation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C2DE"/>
                </a:solidFill>
              </a:defRPr>
            </a:pPr>
            <a:r>
              <a:t>TCO MODEL · ANONYMIZED · ANY AMD EPYC CLOUD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1155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Fleet assumption: 10,000 JVM instances · 12% measured throughput gain · same work, 12% fewer instances needed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00200"/>
          <a:ext cx="9601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103120"/>
                <a:gridCol w="1188720"/>
                <a:gridCol w="2468880"/>
                <a:gridCol w="2468880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Cloud</a:t>
                      </a:r>
                    </a:p>
                  </a:txBody>
                  <a:tcPr anchor="ctr">
                    <a:solidFill>
                      <a:srgbClr val="00C2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Instance</a:t>
                      </a:r>
                    </a:p>
                  </a:txBody>
                  <a:tcPr anchor="ctr">
                    <a:solidFill>
                      <a:srgbClr val="00C2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$/hr</a:t>
                      </a:r>
                    </a:p>
                  </a:txBody>
                  <a:tcPr anchor="ctr">
                    <a:solidFill>
                      <a:srgbClr val="00C2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Fleet/yr</a:t>
                      </a:r>
                    </a:p>
                  </a:txBody>
                  <a:tcPr anchor="ctr">
                    <a:solidFill>
                      <a:srgbClr val="00C2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THP saves/yr</a:t>
                      </a:r>
                    </a:p>
                  </a:txBody>
                  <a:tcPr anchor="ctr">
                    <a:solidFill>
                      <a:srgbClr val="00C2D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AWS</a:t>
                      </a:r>
                    </a:p>
                  </a:txBody>
                  <a:tcPr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</a:rPr>
                        <a:t>m8a.2xlarge</a:t>
                      </a:r>
                    </a:p>
                  </a:txBody>
                  <a:tcPr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</a:rPr>
                        <a:t>$0.4869</a:t>
                      </a:r>
                    </a:p>
                  </a:txBody>
                  <a:tcPr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</a:rPr>
                        <a:t>$42,650,688</a:t>
                      </a:r>
                    </a:p>
                  </a:txBody>
                  <a:tcPr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</a:rPr>
                        <a:t>$5,121,871</a:t>
                      </a:r>
                    </a:p>
                  </a:txBody>
                  <a:tcPr anchor="ctr">
                    <a:solidFill>
                      <a:srgbClr val="1A1A1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GCP</a:t>
                      </a:r>
                    </a:p>
                  </a:txBody>
                  <a:tcPr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</a:rPr>
                        <a:t>n2d-standard-8</a:t>
                      </a:r>
                    </a:p>
                  </a:txBody>
                  <a:tcPr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</a:rPr>
                        <a:t>$0.3397</a:t>
                      </a:r>
                    </a:p>
                  </a:txBody>
                  <a:tcPr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</a:rPr>
                        <a:t>$29,757,720</a:t>
                      </a:r>
                    </a:p>
                  </a:txBody>
                  <a:tcPr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</a:rPr>
                        <a:t>$3,573,569</a:t>
                      </a:r>
                    </a:p>
                  </a:txBody>
                  <a:tcPr anchor="ctr">
                    <a:solidFill>
                      <a:srgbClr val="0A0A0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Azure</a:t>
                      </a:r>
                    </a:p>
                  </a:txBody>
                  <a:tcPr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</a:rPr>
                        <a:t>D8as_v5</a:t>
                      </a:r>
                    </a:p>
                  </a:txBody>
                  <a:tcPr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</a:rPr>
                        <a:t>$0.3440</a:t>
                      </a:r>
                    </a:p>
                  </a:txBody>
                  <a:tcPr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</a:rPr>
                        <a:t>$30,134,400</a:t>
                      </a:r>
                    </a:p>
                  </a:txBody>
                  <a:tcPr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</a:rPr>
                        <a:t>$3,618,804</a:t>
                      </a:r>
                    </a:p>
                  </a:txBody>
                  <a:tcPr anchor="ctr">
                    <a:solidFill>
                      <a:srgbClr val="1A1A1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FFFFFF"/>
                          </a:solidFill>
                        </a:rPr>
                        <a:t>OCI</a:t>
                      </a:r>
                    </a:p>
                  </a:txBody>
                  <a:tcPr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</a:rPr>
                        <a:t>E5.Flex 8 OCPU</a:t>
                      </a:r>
                    </a:p>
                  </a:txBody>
                  <a:tcPr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</a:rPr>
                        <a:t>$0.4480</a:t>
                      </a:r>
                    </a:p>
                  </a:txBody>
                  <a:tcPr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</a:rPr>
                        <a:t>$39,244,800</a:t>
                      </a:r>
                    </a:p>
                  </a:txBody>
                  <a:tcPr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</a:rPr>
                        <a:t>$4,712,862</a:t>
                      </a:r>
                    </a:p>
                  </a:txBody>
                  <a:tcPr anchor="ctr">
                    <a:solidFill>
                      <a:srgbClr val="0A0A0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2519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Prices: AWS Vantage instances.vantage.sh · Azure public API · GCP/OCI published list rates · Jun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Detecting dTLB pressure in the field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none"/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00C2DE"/>
                </a:solidFill>
                <a:latin typeface="Consolas"/>
              </a:rPr>
              <a:t># 1. Check current THP mode: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FFFFFF"/>
                </a:solidFill>
                <a:latin typeface="Consolas"/>
              </a:rPr>
              <a:t>cat /sys/kernel/mm/transparent_hugepage/enabled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C2DE"/>
                </a:solidFill>
                <a:latin typeface="Consolas"/>
              </a:rPr>
              <a:t># Problem state: always madvise [never]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C2DE"/>
                </a:solidFill>
                <a:latin typeface="Consolas"/>
              </a:rPr>
              <a:t># 2. Measure page-table walks live (30s sample):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FFFFFF"/>
                </a:solidFill>
                <a:latin typeface="Consolas"/>
              </a:rPr>
              <a:t>sudo perf stat -a -e ls_l1_d_tlb_miss.all_l2_miss,instructions -- sleep 30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C2DE"/>
                </a:solidFill>
                <a:latin typeface="Consolas"/>
              </a:rPr>
              <a:t># &gt;500K walks/s at load = confirmed THP opportunity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C2DE"/>
                </a:solidFill>
                <a:latin typeface="Consolas"/>
              </a:rPr>
              <a:t># 3. Check AnonHugePages (should jump MB → GB after enable):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FFFFFF"/>
                </a:solidFill>
                <a:latin typeface="Consolas"/>
              </a:rPr>
              <a:t>grep AnonHugePages /proc/meminfo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0C2DE"/>
                </a:solidFill>
                <a:latin typeface="Consolas"/>
              </a:rPr>
              <a:t># 4. Enable and re-measure: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FFFFFF"/>
                </a:solidFill>
                <a:latin typeface="Consolas"/>
              </a:rPr>
              <a:t>echo always | sudo tee /sys/kernel/mm/transparent_hugepage/enabled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FFFFFF"/>
                </a:solidFill>
                <a:latin typeface="Consolas"/>
              </a:rPr>
              <a:t>echo always | sudo tee /sys/kernel/mm/transparent_hugepage/defrag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FFFFFF"/>
                </a:solidFill>
                <a:latin typeface="Consolas"/>
              </a:rPr>
              <a:t>sudo perf stat -a -e ls_l1_d_tlb_miss.all_l2_miss -- sleep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C2DE"/>
                </a:solidFill>
              </a:defRPr>
            </a:pPr>
            <a:r>
              <a:t>DIAGNOSTIC RUNBOOK · RUN THESE ON THE CUSTOMER INSTANCE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Addressing pushback in the field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</a:rPr>
              <a:t>"THP causes latency spikes" — </a:t>
            </a:r>
            <a:r>
              <a:rPr sz="1500">
                <a:solidFill>
                  <a:srgbClr val="CCCCCC"/>
                </a:solidFill>
              </a:rPr>
              <a:t>True for madvise + khugepaged defrag under memory pressure. Avoid: set both enabled and defrag to always. khugepaged runs at startup, not on demand. Spike risk: near zero.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</a:rPr>
              <a:t>"We tested it and saw no improvement" — </a:t>
            </a:r>
            <a:r>
              <a:rPr sz="1500">
                <a:solidFill>
                  <a:srgbClr val="CCCCCC"/>
                </a:solidFill>
              </a:rPr>
              <a:t>Ask: was defrag also set to always? Was the working set &gt; 1 GiB? Was the test under load? All three must be true.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</a:rPr>
              <a:t>"Our ops team is risk-averse" — </a:t>
            </a:r>
            <a:r>
              <a:rPr sz="1500">
                <a:solidFill>
                  <a:srgbClr val="CCCCCC"/>
                </a:solidFill>
              </a:rPr>
              <a:t>Zero binary changes. Rollback is one command: echo never. Shadow-test on one node first; PMC before/after confirms immediately.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</a:rPr>
              <a:t>"Our cloud provider handles this" — </a:t>
            </a:r>
            <a:r>
              <a:rPr sz="1500">
                <a:solidFill>
                  <a:srgbClr val="CCCCCC"/>
                </a:solidFill>
              </a:rPr>
              <a:t>AWS, GCP, and Azure all default THP to madvise on most distros. The customer must opt in. This is not automatic.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C2DE"/>
                </a:solidFill>
              </a:defRPr>
            </a:pPr>
            <a:r>
              <a:t>COMMON OBJECTIONS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AMD Corporate Template_Dark">
  <a:themeElements>
    <a:clrScheme name="AMD Palet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C1A968"/>
      </a:accent3>
      <a:accent4>
        <a:srgbClr val="F26522"/>
      </a:accent4>
      <a:accent5>
        <a:srgbClr val="ED1C24"/>
      </a:accent5>
      <a:accent6>
        <a:srgbClr val="00C2DE"/>
      </a:accent6>
      <a:hlink>
        <a:srgbClr val="D5D5D5"/>
      </a:hlink>
      <a:folHlink>
        <a:srgbClr val="A9A9A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D17A283-CFD4-47B2-83B0-8D1B660F6BAF}" vid="{45BE4ECC-450B-4D86-BCAB-67DA095179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98e8dea-a4f3-4850-b16a-fd6d2b1302b4}" enabled="1" method="Privileged" siteId="{3dd8961f-e488-4e60-8e11-a82d994e183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2261</Words>
  <Application>Microsoft Office PowerPoint</Application>
  <PresentationFormat>Widescreen</PresentationFormat>
  <Paragraphs>422</Paragraphs>
  <Slides>17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7" baseType="lpstr">
      <vt:lpstr>Aptos</vt:lpstr>
      <vt:lpstr>Arial</vt:lpstr>
      <vt:lpstr>Consolas</vt:lpstr>
      <vt:lpstr>Klavika</vt:lpstr>
      <vt:lpstr>Klavika Condensed</vt:lpstr>
      <vt:lpstr>Klavika Medium</vt:lpstr>
      <vt:lpstr>Klavika Regular</vt:lpstr>
      <vt:lpstr>Segoe UI</vt:lpstr>
      <vt:lpstr>Wingdings</vt:lpstr>
      <vt:lpstr>AMD Corporate Template_Dark</vt:lpstr>
      <vt:lpstr>PowerPoint Presentation</vt:lpstr>
      <vt:lpstr>MI355X VS B200 — SINGLE NODE (8 GPUS)</vt:lpstr>
      <vt:lpstr>GENERATIONAL LEAP: MI325X → MI355X</vt:lpstr>
      <vt:lpstr>MULTI-NODE SCALE</vt:lpstr>
      <vt:lpstr>BROADEST PARTNER ECOSYSTEM EVER</vt:lpstr>
      <vt:lpstr>Line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Corporate Presentation Color Palette</vt:lpstr>
      <vt:lpstr>AMD Instinct Measured Performance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Roy, Michael</cp:lastModifiedBy>
  <cp:revision>3</cp:revision>
  <dcterms:created xsi:type="dcterms:W3CDTF">2013-01-27T09:14:16Z</dcterms:created>
  <dcterms:modified xsi:type="dcterms:W3CDTF">2026-05-06T22:23:04Z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AMD General</vt:lpwstr>
  </property>
</Properties>
</file>
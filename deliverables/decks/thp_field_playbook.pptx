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7"/>
    <p:sldId id="257" r:id="rId8"/>
    <p:sldId id="258" r:id="rId9"/>
    <p:sldId id="265" r:id="rId16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861" y="2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F0752-341B-4966-8BEE-CCC3BA59C29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0CC0F-D2C5-48B2-B6B7-57799969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5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2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5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10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00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566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433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7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004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445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7672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15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9651803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6517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5769468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786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981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776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004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667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93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37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60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936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6505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100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0706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45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56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65430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MAS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instinct-lockup-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00800"/>
            <a:ext cx="1371600" cy="292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EAEBE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39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DIVIDER_MASTER"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1D1F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00C2DE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831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743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THP Enablement:</a:t>
            </a:r>
          </a:p>
          <a:p>
            <a:r>
              <a:t>AMD Field Team Playbook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How to identify, demonstrate, and quantify THP value for production fleets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Qualifying the Opportunity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Is the customer a THP candidate?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651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C2DE"/>
                </a:solidFill>
              </a:defRPr>
            </a:pPr>
            <a:r>
              <a:t>SECTION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Three questions to determine THP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Q1 — </a:t>
            </a:r>
            <a:r>
              <a:rPr sz="1500">
                <a:solidFill>
                  <a:srgbClr val="CCCCCC"/>
                </a:solidFill>
              </a:rPr>
              <a:t>Working set &gt; 1 GiB per instance? — In-memory databases, JVM services, KV stores, ML inference. YES → strong candidate.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Q2 — </a:t>
            </a:r>
            <a:r>
              <a:rPr sz="1500">
                <a:solidFill>
                  <a:srgbClr val="CCCCCC"/>
                </a:solidFill>
              </a:rPr>
              <a:t>THP currently disabled or madvise? — cat /sys/kernel/mm/transparent_hugepage/enabled. If [never] or [madvise] is active → opportunity.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Q3 — </a:t>
            </a:r>
            <a:r>
              <a:rPr sz="1500">
                <a:solidFill>
                  <a:srgbClr val="CCCCCC"/>
                </a:solidFill>
              </a:rPr>
              <a:t>CPU-saturated but throughput flat? — Process CPU is high but requests/sec not scaling. Classic dTLB saturation signature.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Confirm with PMC — </a:t>
            </a:r>
            <a:r>
              <a:rPr sz="1500">
                <a:solidFill>
                  <a:srgbClr val="CCCCCC"/>
                </a:solidFill>
              </a:rPr>
              <a:t>sudo perf stat -a -e ls_l1_d_tlb_miss.all_l2_miss -- sleep 10. If walks/s &gt; 500K at load: THP will help.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QUICK QUALIFICATION CHECKLIST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Framing the problem without jargon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Customer says — </a:t>
            </a:r>
            <a:r>
              <a:rPr sz="1400">
                <a:solidFill>
                  <a:srgbClr val="CCCCCC"/>
                </a:solidFill>
              </a:rPr>
              <a:t>"Our JVM nodes are CPU-saturated but throughput is not growing."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Your response — </a:t>
            </a:r>
            <a:r>
              <a:rPr sz="1400">
                <a:solidFill>
                  <a:srgbClr val="CCCCCC"/>
                </a:solidFill>
              </a:rPr>
              <a:t>"What you are seeing is likely dTLB pressure. Think of your CPU as a librarian with a 256 KB index card tray. Your application has an 8 GiB library. Every memory access the index card does not cover forces the librarian to walk the full stacks — that is a page-table walk. We measured 1.47 million of those per second on your workload type. With 2 MB pages, the same tray covers 128 MB. Walk rate drops 33×."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Close — </a:t>
            </a:r>
            <a:r>
              <a:rPr sz="1400">
                <a:solidFill>
                  <a:srgbClr val="CCCCCC"/>
                </a:solidFill>
              </a:rPr>
              <a:t>"One command. No code changes. We measured 12% throughput recovery on identical hardware. Want to see the live recording?"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THE CUSTOMER CONVERSATION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Show the customer 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EVIDENCE · LIVE PMC CAPTURES · AMD EPYC 9R45</a:t>
            </a:r>
          </a:p>
        </p:txBody>
      </p:sp>
      <p:pic>
        <p:nvPicPr>
          <p:cNvPr id="4" name="Picture 3" descr="j_n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5394960" cy="3383280"/>
          </a:xfrm>
          <a:prstGeom prst="rect">
            <a:avLst/>
          </a:prstGeom>
        </p:spPr>
      </p:pic>
      <p:pic>
        <p:nvPicPr>
          <p:cNvPr id="5" name="Picture 4" descr="j_al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39496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99999"/>
                </a:solidFill>
              </a:rPr>
              <a:t>Java · THP=NEVER  ·  162 ns/access  ·  1,470,000 walks/s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DE"/>
                </a:solidFill>
              </a:rPr>
              <a:t>Java · THP=ALWAYS  ·  143 ns/access  ·  44,000 walks/s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+12%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JVM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no code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33×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fewer walks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44K vs 1.47M/s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$5.1M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AWS savings/yr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10K fleet 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737360"/>
            <a:ext cx="2194560" cy="1371600"/>
          </a:xfrm>
          <a:prstGeom prst="rect">
            <a:avLst/>
          </a:prstGeom>
          <a:solidFill>
            <a:srgbClr val="1D1F21"/>
          </a:solidFill>
          <a:ln w="12700">
            <a:solidFill>
              <a:srgbClr val="00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182880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2DE"/>
                </a:solidFill>
              </a:rPr>
              <a:t>1 cmd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33172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to enable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697480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echo always &gt;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Quantifying the savings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TCO MODEL · ANONYMIZED · ANY AMD EPYC CLOUD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Fleet assumption: 10,000 JVM instances · 12% measured throughput gain · same work, 12% fewer instances needed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00200"/>
          <a:ext cx="9601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188720"/>
                <a:gridCol w="2468880"/>
                <a:gridCol w="246888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Cloud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Instance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$/hr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Fleet/yr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THP saves/yr</a:t>
                      </a:r>
                    </a:p>
                  </a:txBody>
                  <a:tcPr anchor="ctr">
                    <a:solidFill>
                      <a:srgbClr val="00C2D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AWS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m8a.2xlarge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$0.4869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$42,650,688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$5,121,871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GCP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n2d-standard-8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$0.3397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$29,757,720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$3,573,569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Azure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D8as_v5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$0.3440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$30,134,400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$3,618,804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OCI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E5.Flex 8 OCPU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$0.4480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$39,244,800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$4,712,862</a:t>
                      </a:r>
                    </a:p>
                  </a:txBody>
                  <a:tcPr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251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Prices: AWS Vantage instances.vantage.sh · Azure public API · GCP/OCI published list rates · Jun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Detecting dTLB pressure in the field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none"/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1. Check current THP mode: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cat /sys/kernel/mm/transparent_hugepage/enabled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Problem state: always madvise [never]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2. Measure page-table walks live (30s sample):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sudo perf stat -a -e ls_l1_d_tlb_miss.all_l2_miss,instructions -- sleep 30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&gt;500K walks/s at load = confirmed THP opportunity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3. Check AnonHugePages (should jump MB → GB after enable):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grep AnonHugePages /proc/meminfo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0C2DE"/>
                </a:solidFill>
                <a:latin typeface="Consolas"/>
              </a:rPr>
              <a:t># 4. Enable and re-measure: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always | sudo tee /sys/kernel/mm/transparent_hugepage/enabled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echo always | sudo tee /sys/kernel/mm/transparent_hugepage/defrag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sudo perf stat -a -e ls_l1_d_tlb_miss.all_l2_miss -- sleep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DIAGNOSTIC RUNBOOK · RUN THESE ON THE CUSTOMER INSTANCE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Addressing pushback in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"THP causes latency spikes" — </a:t>
            </a:r>
            <a:r>
              <a:rPr sz="1500">
                <a:solidFill>
                  <a:srgbClr val="CCCCCC"/>
                </a:solidFill>
              </a:rPr>
              <a:t>True for madvise + khugepaged defrag under memory pressure. Avoid: set both enabled and defrag to always. khugepaged runs at startup, not on demand. Spike risk: near zero.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"We tested it and saw no improvement" — </a:t>
            </a:r>
            <a:r>
              <a:rPr sz="1500">
                <a:solidFill>
                  <a:srgbClr val="CCCCCC"/>
                </a:solidFill>
              </a:rPr>
              <a:t>Ask: was defrag also set to always? Was the working set &gt; 1 GiB? Was the test under load? All three must be true.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"Our ops team is risk-averse" — </a:t>
            </a:r>
            <a:r>
              <a:rPr sz="1500">
                <a:solidFill>
                  <a:srgbClr val="CCCCCC"/>
                </a:solidFill>
              </a:rPr>
              <a:t>Zero binary changes. Rollback is one command: echo never. Shadow-test on one node first; PMC before/after confirms immediately.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</a:rPr>
              <a:t>"Our cloud provider handles this" — </a:t>
            </a:r>
            <a:r>
              <a:rPr sz="1500">
                <a:solidFill>
                  <a:srgbClr val="CCCCCC"/>
                </a:solidFill>
              </a:rPr>
              <a:t>AWS, GCP, and Azure all default THP to madvise on most distros. The customer must opt in. This is not automatic.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2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2DE"/>
                </a:solidFill>
              </a:defRPr>
            </a:pPr>
            <a:r>
              <a:t>COMMON OBJECTIONS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Does This Exist in Production?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 b="1">
                <a:solidFill>
                  <a:srgbClr val="00C2DE"/>
                </a:solidFill>
              </a:rPr>
              <a:t>In-Memory Caches &amp; Databases — </a:t>
            </a:r>
            <a:r>
              <a:rPr sz="1300">
                <a:solidFill>
                  <a:srgbClr val="FFFFFF"/>
                </a:solidFill>
              </a:rPr>
              <a:t>Redis, Ignite, Hazelcast: pointer-chasing through giant hash tables. Every 4 KB boundary = page-table walk. THP → 2 MB pages → dTLB covers orders of magnitude more data.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 b="1">
                <a:solidFill>
                  <a:srgbClr val="F26522"/>
                </a:solidFill>
              </a:rPr>
              <a:t>JVM Microservices at Scale — </a:t>
            </a:r>
            <a:r>
              <a:rPr sz="1300">
                <a:solidFill>
                  <a:srgbClr val="FFFFFF"/>
                </a:solidFill>
              </a:rPr>
              <a:t>G1GC heap is one large contiguous mmap. A top-5 SaaS company on EPYC saw 12% throughput gain from a single kernel parameter — no code change, no recompile, no downtime.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 b="1">
                <a:solidFill>
                  <a:srgbClr val="C1A968"/>
                </a:solidFill>
              </a:rPr>
              <a:t>LLM Inference (KV-Cache) — </a:t>
            </a:r>
            <a:r>
              <a:rPr sz="1300">
                <a:solidFill>
                  <a:srgbClr val="FFFFFF"/>
                </a:solidFill>
              </a:rPr>
              <a:t>KV-cache is a large contiguous buffer (10–80 GiB). THP reduces dTLB pressure during memory-bandwidth-bound decode. Gains: 3–8% tokens/sec at sequence lengths ≥ 8 K tokens.</a:t>
            </a:r>
          </a:p>
          <a:p>
            <a:pPr>
              <a:spcBef>
                <a:spcPts val="1400"/>
              </a:spcBef>
            </a:pPr>
            <a:r>
              <a:rPr sz="1100" i="1">
                <a:solidFill>
                  <a:srgbClr val="B4B9BC"/>
                </a:solidFill>
              </a:rPr>
              <a:t>TCO impact: 12% throughput gain on 10,000-instance JVM fleet → defer ~1,200 instances of new capacity. Zero cost: one kernel parameter.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D17A283-CFD4-47B2-83B0-8D1B660F6BAF}" vid="{45BE4ECC-450B-4D86-BCAB-67DA095179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8e8dea-a4f3-4850-b16a-fd6d2b1302b4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2261</Words>
  <Application>Microsoft Office PowerPoint</Application>
  <PresentationFormat>Widescreen</PresentationFormat>
  <Paragraphs>422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Consolas</vt:lpstr>
      <vt:lpstr>Klavika</vt:lpstr>
      <vt:lpstr>Klavika Condensed</vt:lpstr>
      <vt:lpstr>Klavika Medium</vt:lpstr>
      <vt:lpstr>Klavika Regular</vt:lpstr>
      <vt:lpstr>Segoe UI</vt:lpstr>
      <vt:lpstr>Wingdings</vt:lpstr>
      <vt:lpstr>AMD Corporate Template_Dark</vt:lpstr>
      <vt:lpstr>PowerPoint Presentation</vt:lpstr>
      <vt:lpstr>MI355X VS B200 — SINGLE NODE (8 GPUS)</vt:lpstr>
      <vt:lpstr>GENERATIONAL LEAP: MI325X → MI355X</vt:lpstr>
      <vt:lpstr>MULTI-NODE SCALE</vt:lpstr>
      <vt:lpstr>BROADEST PARTNER ECOSYSTEM EVER</vt:lpstr>
      <vt:lpstr>Line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Corporate Presentation Color Palette</vt:lpstr>
      <vt:lpstr>AMD Instinct Measured Performance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Roy, Michael</cp:lastModifiedBy>
  <cp:revision>3</cp:revision>
  <dcterms:created xsi:type="dcterms:W3CDTF">2013-01-27T09:14:16Z</dcterms:created>
  <dcterms:modified xsi:type="dcterms:W3CDTF">2026-05-06T22:23:04Z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AMD General</vt:lpwstr>
  </property>
</Properties>
</file>